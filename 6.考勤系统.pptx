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9" r:id="rId2"/>
    <p:sldId id="377" r:id="rId3"/>
    <p:sldId id="375" r:id="rId4"/>
    <p:sldId id="374" r:id="rId5"/>
  </p:sldIdLst>
  <p:sldSz cx="9144000" cy="5143500" type="screen16x9"/>
  <p:notesSz cx="6858000" cy="9144000"/>
  <p:custDataLst>
    <p:tags r:id="rId7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4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58" userDrawn="1">
          <p15:clr>
            <a:srgbClr val="A4A3A4"/>
          </p15:clr>
        </p15:guide>
        <p15:guide id="4" pos="5561" userDrawn="1">
          <p15:clr>
            <a:srgbClr val="A4A3A4"/>
          </p15:clr>
        </p15:guide>
        <p15:guide id="5" pos="35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2C46"/>
    <a:srgbClr val="5B8CC7"/>
    <a:srgbClr val="EA045C"/>
    <a:srgbClr val="155193"/>
    <a:srgbClr val="FA4147"/>
    <a:srgbClr val="AE3139"/>
    <a:srgbClr val="FB8C2F"/>
    <a:srgbClr val="FF7021"/>
    <a:srgbClr val="FD5D00"/>
    <a:srgbClr val="B054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50" autoAdjust="0"/>
    <p:restoredTop sz="72370" autoAdjust="0"/>
  </p:normalViewPr>
  <p:slideViewPr>
    <p:cSldViewPr showGuides="1">
      <p:cViewPr varScale="1">
        <p:scale>
          <a:sx n="142" d="100"/>
          <a:sy n="142" d="100"/>
        </p:scale>
        <p:origin x="84" y="168"/>
      </p:cViewPr>
      <p:guideLst>
        <p:guide orient="horz" pos="1746"/>
        <p:guide pos="2880"/>
        <p:guide pos="158"/>
        <p:guide pos="5561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577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tags" Target="tags/tag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9CB773-35B0-4E20-AC78-3B098412549D}" type="datetimeFigureOut">
              <a:rPr lang="ko-KR" altLang="en-US" smtClean="0"/>
              <a:t>2026-05-11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967EE-9FC9-4A40-9F37-B0BEB7914B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912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113183" y="340471"/>
            <a:ext cx="6917634" cy="4586804"/>
          </a:xfrm>
          <a:prstGeom prst="rect">
            <a:avLst/>
          </a:prstGeom>
        </p:spPr>
      </p:pic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3102910" y="2345003"/>
            <a:ext cx="4927908" cy="4570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28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PRESENTATION TITLE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102910" y="2961879"/>
            <a:ext cx="4927908" cy="256136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 b="0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PRESENTATION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0" y="-1"/>
            <a:ext cx="8577470" cy="5143501"/>
          </a:xfrm>
          <a:prstGeom prst="rect">
            <a:avLst/>
          </a:prstGeom>
        </p:spPr>
      </p:pic>
      <p:sp>
        <p:nvSpPr>
          <p:cNvPr id="3" name="텍스트 개체 틀 7"/>
          <p:cNvSpPr>
            <a:spLocks noGrp="1"/>
          </p:cNvSpPr>
          <p:nvPr>
            <p:ph type="body" sz="quarter" idx="10" hasCustomPrompt="1"/>
          </p:nvPr>
        </p:nvSpPr>
        <p:spPr>
          <a:xfrm>
            <a:off x="1008112" y="883314"/>
            <a:ext cx="2123728" cy="642919"/>
          </a:xfrm>
          <a:prstGeom prst="rect">
            <a:avLst/>
          </a:prstGeom>
        </p:spPr>
        <p:txBody>
          <a:bodyPr lIns="0" tIns="0" rIns="0" bIns="0"/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lang="ko-KR" altLang="en-US" sz="2000" b="1" kern="1200" baseline="0">
                <a:ln>
                  <a:noFill/>
                </a:ln>
                <a:solidFill>
                  <a:schemeClr val="bg1"/>
                </a:solidFill>
                <a:effectLst/>
                <a:latin typeface="Tahoma" panose="020B0604030504040204" pitchFamily="34" charset="0"/>
                <a:ea typeface="+mn-ea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CONTENTS TITLE</a:t>
            </a:r>
            <a:endParaRPr lang="ko-KR" altLang="en-US"/>
          </a:p>
        </p:txBody>
      </p:sp>
      <p:sp>
        <p:nvSpPr>
          <p:cNvPr id="4" name="텍스트 개체 틀 7"/>
          <p:cNvSpPr>
            <a:spLocks noGrp="1"/>
          </p:cNvSpPr>
          <p:nvPr>
            <p:ph type="body" sz="quarter" idx="11" hasCustomPrompt="1"/>
          </p:nvPr>
        </p:nvSpPr>
        <p:spPr>
          <a:xfrm>
            <a:off x="3779912" y="891706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01. CONTENTS TITLE</a:t>
            </a:r>
            <a:endParaRPr lang="ko-KR" altLang="en-US"/>
          </a:p>
        </p:txBody>
      </p:sp>
      <p:sp>
        <p:nvSpPr>
          <p:cNvPr id="5" name="텍스트 개체 틀 7"/>
          <p:cNvSpPr>
            <a:spLocks noGrp="1"/>
          </p:cNvSpPr>
          <p:nvPr>
            <p:ph type="body" sz="quarter" idx="12" hasCustomPrompt="1"/>
          </p:nvPr>
        </p:nvSpPr>
        <p:spPr>
          <a:xfrm>
            <a:off x="3779912" y="1851670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02. CONTENTS TITLE</a:t>
            </a:r>
            <a:endParaRPr lang="ko-KR" altLang="en-US"/>
          </a:p>
        </p:txBody>
      </p:sp>
      <p:sp>
        <p:nvSpPr>
          <p:cNvPr id="6" name="텍스트 개체 틀 7"/>
          <p:cNvSpPr>
            <a:spLocks noGrp="1"/>
          </p:cNvSpPr>
          <p:nvPr>
            <p:ph type="body" sz="quarter" idx="13" hasCustomPrompt="1"/>
          </p:nvPr>
        </p:nvSpPr>
        <p:spPr>
          <a:xfrm>
            <a:off x="3779912" y="2772708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03. CONTENTS TITLE</a:t>
            </a:r>
            <a:endParaRPr lang="ko-KR" altLang="en-US"/>
          </a:p>
        </p:txBody>
      </p:sp>
      <p:sp>
        <p:nvSpPr>
          <p:cNvPr id="7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4130013" y="1190997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01-1. CONTENTS SUB TITLE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5" hasCustomPrompt="1"/>
          </p:nvPr>
        </p:nvSpPr>
        <p:spPr>
          <a:xfrm>
            <a:off x="4130013" y="1427303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01-2. CONTENTS SUB TITLE</a:t>
            </a:r>
            <a:endParaRPr lang="ko-KR" altLang="en-US"/>
          </a:p>
        </p:txBody>
      </p:sp>
      <p:sp>
        <p:nvSpPr>
          <p:cNvPr id="9" name="텍스트 개체 틀 7"/>
          <p:cNvSpPr>
            <a:spLocks noGrp="1"/>
          </p:cNvSpPr>
          <p:nvPr>
            <p:ph type="body" sz="quarter" idx="16" hasCustomPrompt="1"/>
          </p:nvPr>
        </p:nvSpPr>
        <p:spPr>
          <a:xfrm>
            <a:off x="4130013" y="2141614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02-1. CONTENTS SUB TITLE</a:t>
            </a:r>
            <a:endParaRPr lang="ko-KR" altLang="en-US"/>
          </a:p>
        </p:txBody>
      </p:sp>
      <p:sp>
        <p:nvSpPr>
          <p:cNvPr id="10" name="텍스트 개체 틀 7"/>
          <p:cNvSpPr>
            <a:spLocks noGrp="1"/>
          </p:cNvSpPr>
          <p:nvPr>
            <p:ph type="body" sz="quarter" idx="17" hasCustomPrompt="1"/>
          </p:nvPr>
        </p:nvSpPr>
        <p:spPr>
          <a:xfrm>
            <a:off x="4130013" y="2377920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02-2. CONTENTS SUB TITLE</a:t>
            </a:r>
            <a:endParaRPr lang="ko-KR" altLang="en-US"/>
          </a:p>
        </p:txBody>
      </p:sp>
      <p:sp>
        <p:nvSpPr>
          <p:cNvPr id="11" name="텍스트 개체 틀 7"/>
          <p:cNvSpPr>
            <a:spLocks noGrp="1"/>
          </p:cNvSpPr>
          <p:nvPr>
            <p:ph type="body" sz="quarter" idx="18" hasCustomPrompt="1"/>
          </p:nvPr>
        </p:nvSpPr>
        <p:spPr>
          <a:xfrm>
            <a:off x="4130013" y="3063579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03-1. CONTENTS SUB TITLE</a:t>
            </a:r>
            <a:endParaRPr lang="ko-KR" altLang="en-US"/>
          </a:p>
        </p:txBody>
      </p:sp>
      <p:sp>
        <p:nvSpPr>
          <p:cNvPr id="12" name="텍스트 개체 틀 7"/>
          <p:cNvSpPr>
            <a:spLocks noGrp="1"/>
          </p:cNvSpPr>
          <p:nvPr>
            <p:ph type="body" sz="quarter" idx="19" hasCustomPrompt="1"/>
          </p:nvPr>
        </p:nvSpPr>
        <p:spPr>
          <a:xfrm>
            <a:off x="4130013" y="3299885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03-2. CONTENTS SUB TITLE</a:t>
            </a:r>
            <a:endParaRPr lang="ko-KR" altLang="en-US"/>
          </a:p>
        </p:txBody>
      </p:sp>
      <p:sp>
        <p:nvSpPr>
          <p:cNvPr id="13" name="텍스트 개체 틀 7"/>
          <p:cNvSpPr>
            <a:spLocks noGrp="1"/>
          </p:cNvSpPr>
          <p:nvPr>
            <p:ph type="body" sz="quarter" idx="20" hasCustomPrompt="1"/>
          </p:nvPr>
        </p:nvSpPr>
        <p:spPr>
          <a:xfrm>
            <a:off x="3779912" y="3717225"/>
            <a:ext cx="4392488" cy="2472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baseline="0">
                <a:solidFill>
                  <a:schemeClr val="tx1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04. CONTENTS TITLE</a:t>
            </a:r>
            <a:endParaRPr lang="ko-KR" altLang="en-US"/>
          </a:p>
        </p:txBody>
      </p:sp>
      <p:sp>
        <p:nvSpPr>
          <p:cNvPr id="14" name="텍스트 개체 틀 7"/>
          <p:cNvSpPr>
            <a:spLocks noGrp="1"/>
          </p:cNvSpPr>
          <p:nvPr>
            <p:ph type="body" sz="quarter" idx="21" hasCustomPrompt="1"/>
          </p:nvPr>
        </p:nvSpPr>
        <p:spPr>
          <a:xfrm>
            <a:off x="4130013" y="4008096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04-1. CONTENTS SUB TITLE</a:t>
            </a:r>
            <a:endParaRPr lang="ko-KR" altLang="en-US"/>
          </a:p>
        </p:txBody>
      </p:sp>
      <p:sp>
        <p:nvSpPr>
          <p:cNvPr id="15" name="텍스트 개체 틀 7"/>
          <p:cNvSpPr>
            <a:spLocks noGrp="1"/>
          </p:cNvSpPr>
          <p:nvPr>
            <p:ph type="body" sz="quarter" idx="22" hasCustomPrompt="1"/>
          </p:nvPr>
        </p:nvSpPr>
        <p:spPr>
          <a:xfrm>
            <a:off x="4130013" y="4244402"/>
            <a:ext cx="3954859" cy="18004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000" b="0" baseline="0">
                <a:solidFill>
                  <a:srgbClr val="FA4147"/>
                </a:solidFill>
                <a:effectLst/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04-2. CONTENTS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003852" y="208887"/>
            <a:ext cx="7136296" cy="4868332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 userDrawn="1"/>
        </p:nvPicPr>
        <p:blipFill rotWithShape="1">
          <a:blip r:embed="rId3" cstate="email"/>
          <a:srcRect/>
          <a:stretch>
            <a:fillRect/>
          </a:stretch>
        </p:blipFill>
        <p:spPr>
          <a:xfrm rot="698491" flipV="1">
            <a:off x="6615190" y="1428844"/>
            <a:ext cx="950100" cy="3552890"/>
          </a:xfrm>
          <a:prstGeom prst="rect">
            <a:avLst/>
          </a:prstGeom>
        </p:spPr>
      </p:pic>
      <p:sp>
        <p:nvSpPr>
          <p:cNvPr id="4" name="텍스트 개체 틀 12"/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2194334" y="2667293"/>
            <a:ext cx="501943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24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MAIN TITLE</a:t>
            </a:r>
            <a:endParaRPr lang="ko-KR" altLang="en-US"/>
          </a:p>
        </p:txBody>
      </p:sp>
      <p:sp>
        <p:nvSpPr>
          <p:cNvPr id="5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2194334" y="3108905"/>
            <a:ext cx="5019436" cy="1938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14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sub title</a:t>
            </a:r>
            <a:endParaRPr lang="ko-KR" altLang="en-US"/>
          </a:p>
        </p:txBody>
      </p:sp>
      <p:sp>
        <p:nvSpPr>
          <p:cNvPr id="6" name="텍스트 개체 틀 12"/>
          <p:cNvSpPr>
            <a:spLocks noGrp="1"/>
          </p:cNvSpPr>
          <p:nvPr>
            <p:ph type="body" sz="quarter" idx="14" hasCustomPrompt="1"/>
          </p:nvPr>
        </p:nvSpPr>
        <p:spPr>
          <a:xfrm flipH="1">
            <a:off x="2194334" y="1520521"/>
            <a:ext cx="1560094" cy="6647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>
              <a:lnSpc>
                <a:spcPct val="90000"/>
              </a:lnSpc>
              <a:buNone/>
              <a:defRPr sz="4800" b="1" baseline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01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308113" y="0"/>
            <a:ext cx="8527774" cy="993914"/>
          </a:xfrm>
          <a:prstGeom prst="rect">
            <a:avLst/>
          </a:prstGeom>
        </p:spPr>
      </p:pic>
      <p:sp>
        <p:nvSpPr>
          <p:cNvPr id="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505200" y="4834104"/>
            <a:ext cx="2133600" cy="259030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solidFill>
                  <a:srgbClr val="222D47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6D496982-6B67-48BF-BE88-CEE75E286A28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4" name="텍스트 개체 틀 12"/>
          <p:cNvSpPr>
            <a:spLocks noGrp="1"/>
          </p:cNvSpPr>
          <p:nvPr>
            <p:ph type="body" sz="quarter" idx="10" hasCustomPrompt="1"/>
          </p:nvPr>
        </p:nvSpPr>
        <p:spPr>
          <a:xfrm flipH="1">
            <a:off x="688369" y="202510"/>
            <a:ext cx="776726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90000"/>
              </a:lnSpc>
              <a:buNone/>
              <a:defRPr sz="20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MAIN TITLE</a:t>
            </a:r>
            <a:endParaRPr lang="ko-KR" altLang="en-US"/>
          </a:p>
        </p:txBody>
      </p:sp>
      <p:sp>
        <p:nvSpPr>
          <p:cNvPr id="5" name="텍스트 개체 틀 12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688369" y="558362"/>
            <a:ext cx="7767262" cy="1661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ct val="90000"/>
              </a:lnSpc>
              <a:buNone/>
              <a:defRPr sz="12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Slide sub title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 rotWithShape="1">
          <a:blip r:embed="rId2" cstate="email"/>
          <a:srcRect/>
          <a:stretch>
            <a:fillRect/>
          </a:stretch>
        </p:blipFill>
        <p:spPr>
          <a:xfrm>
            <a:off x="1600201" y="380615"/>
            <a:ext cx="5943600" cy="4238254"/>
          </a:xfrm>
          <a:prstGeom prst="rect">
            <a:avLst/>
          </a:prstGeom>
        </p:spPr>
      </p:pic>
      <p:sp>
        <p:nvSpPr>
          <p:cNvPr id="3" name="텍스트 개체 틀 3"/>
          <p:cNvSpPr>
            <a:spLocks noGrp="1"/>
          </p:cNvSpPr>
          <p:nvPr>
            <p:ph type="body" sz="quarter" idx="10" hasCustomPrompt="1"/>
          </p:nvPr>
        </p:nvSpPr>
        <p:spPr>
          <a:xfrm>
            <a:off x="2650733" y="2015888"/>
            <a:ext cx="3842534" cy="6380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800" b="1" baseline="0">
                <a:solidFill>
                  <a:schemeClr val="bg1"/>
                </a:solidFill>
                <a:latin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altLang="ko-KR"/>
              <a:t>THANK YOU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8" cstate="email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3131841" y="2216738"/>
            <a:ext cx="3888432" cy="1003084"/>
          </a:xfrm>
        </p:spPr>
        <p:txBody>
          <a:bodyPr/>
          <a:lstStyle/>
          <a:p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内容安全综合设计实验</a:t>
            </a:r>
            <a:endParaRPr lang="en-US" altLang="zh-CN" dirty="0">
              <a:solidFill>
                <a:schemeClr val="accent1">
                  <a:lumMod val="40000"/>
                  <a:lumOff val="6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—</a:t>
            </a:r>
            <a:r>
              <a:rPr lang="zh-CN" alt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考勤系统设计</a:t>
            </a:r>
            <a:endParaRPr lang="en-US" altLang="ko-KR" dirty="0">
              <a:latin typeface="造字工房悦圆（非商用）常规体" pitchFamily="50" charset="-122"/>
              <a:ea typeface="造字工房悦圆（非商用）常规体" pitchFamily="50" charset="-122"/>
            </a:endParaRPr>
          </a:p>
        </p:txBody>
      </p:sp>
      <p:cxnSp>
        <p:nvCxnSpPr>
          <p:cNvPr id="9" name="직선 연결선 8"/>
          <p:cNvCxnSpPr/>
          <p:nvPr/>
        </p:nvCxnSpPr>
        <p:spPr>
          <a:xfrm>
            <a:off x="3222748" y="1977030"/>
            <a:ext cx="35815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3198066" y="3435846"/>
            <a:ext cx="36061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实验任务</a:t>
            </a:r>
            <a:endParaRPr lang="ko-KR" altLang="en-US" dirty="0"/>
          </a:p>
        </p:txBody>
      </p:sp>
      <p:cxnSp>
        <p:nvCxnSpPr>
          <p:cNvPr id="12" name="직선 연결선 4"/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1369912" y="1923678"/>
            <a:ext cx="6048672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日，实验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：文本生成与检测技术 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9</a:t>
            </a:r>
            <a:r>
              <a:rPr lang="zh-CN" altLang="en-US" sz="16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周，五一放假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日，实验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：图像伪造与伪造检测技术 </a:t>
            </a: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周，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月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15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日，实验</a:t>
            </a:r>
            <a:r>
              <a:rPr lang="en-US" altLang="zh-CN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：综合实验（验收）</a:t>
            </a:r>
          </a:p>
        </p:txBody>
      </p:sp>
    </p:spTree>
    <p:extLst>
      <p:ext uri="{BB962C8B-B14F-4D97-AF65-F5344CB8AC3E}">
        <p14:creationId xmlns:p14="http://schemas.microsoft.com/office/powerpoint/2010/main" val="3062269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实验任务</a:t>
            </a:r>
            <a:endParaRPr lang="ko-KR" altLang="en-US" dirty="0"/>
          </a:p>
        </p:txBody>
      </p:sp>
      <p:cxnSp>
        <p:nvCxnSpPr>
          <p:cNvPr id="12" name="직선 연결선 4"/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251431" y="915566"/>
            <a:ext cx="8204200" cy="39395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实验任务：</a:t>
            </a:r>
            <a:endParaRPr lang="en-US" altLang="zh-CN" sz="1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        以内容安全领域的人脸识别、活体检测技术为核心，结合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BS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Browser/Server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架构开发，实现一套功能完整、安全可靠的班级考勤系统。要求融入合照学生识别、学生面部情绪分析功能，培养学生对计算机视觉技术、前后端交互、数据安全处理的实践能力，理解人脸识别技术在内容安全场景中的应用边界与防护要点。（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2-3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人组队，</a:t>
            </a:r>
            <a:r>
              <a:rPr lang="en-US" altLang="zh-CN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11</a:t>
            </a:r>
            <a:r>
              <a:rPr lang="zh-CN" alt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周周五验收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）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实验要求：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基础考勤功能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：前端通过浏览器调用摄像头采集学生人脸信息，传输至后端；后端完成活体检测、人脸库比对，将考勤结果（成功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失败、匹配学生信息、考勤时间）返回至前端渲染显示，实现日常班级考勤的自动化记录。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合照学生识别功能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：支持上传班级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活动大合照，后端对照片中的人脸进行批量识别，匹配人脸库中学生信息，生成匹配成功的学生名单，统计学生参与各类活动的频次，形成统计报表。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情绪分析功能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：在考勤、合照识别过程中，同步对学生面部表情进行分析，并对情绪进行分类，可在前端查看统计结果。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系统安全性能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：优化识别算法，提升活体检测、人脸比对、合照识别的准确率，降低误识别率；实现系统异常处理（如摄像头调用失败、照片上传失败、识别超时等）。</a:t>
            </a:r>
          </a:p>
          <a:p>
            <a:pPr>
              <a:lnSpc>
                <a:spcPct val="125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5. </a:t>
            </a:r>
            <a:r>
              <a:rPr lang="zh-CN" altLang="en-US" sz="1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文档与测试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：完成课程设计报告，包含需求分析、系统设计、代码实现、结果分析等内容，提交可运行的系统源码及相关文档。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1"/>
          <p:cNvSpPr>
            <a:spLocks noGrp="1"/>
          </p:cNvSpPr>
          <p:nvPr>
            <p:ph type="body" sz="quarter" idx="10"/>
          </p:nvPr>
        </p:nvSpPr>
        <p:spPr>
          <a:xfrm flipH="1">
            <a:off x="688369" y="339502"/>
            <a:ext cx="7767262" cy="276860"/>
          </a:xfrm>
        </p:spPr>
        <p:txBody>
          <a:bodyPr/>
          <a:lstStyle/>
          <a:p>
            <a:r>
              <a:rPr lang="zh-CN" altLang="en-US" dirty="0"/>
              <a:t>评分标准</a:t>
            </a:r>
            <a:endParaRPr lang="ko-KR" altLang="en-US" dirty="0"/>
          </a:p>
        </p:txBody>
      </p:sp>
      <p:cxnSp>
        <p:nvCxnSpPr>
          <p:cNvPr id="12" name="직선 연결선 4"/>
          <p:cNvCxnSpPr/>
          <p:nvPr/>
        </p:nvCxnSpPr>
        <p:spPr>
          <a:xfrm>
            <a:off x="4290606" y="4843754"/>
            <a:ext cx="207284" cy="0"/>
          </a:xfrm>
          <a:prstGeom prst="line">
            <a:avLst/>
          </a:prstGeom>
          <a:ln>
            <a:solidFill>
              <a:srgbClr val="222D4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327448" y="4834104"/>
            <a:ext cx="2133600" cy="259030"/>
          </a:xfrm>
        </p:spPr>
        <p:txBody>
          <a:bodyPr/>
          <a:lstStyle/>
          <a:p>
            <a:fld id="{6D496982-6B67-48BF-BE88-CEE75E286A28}" type="slidenum">
              <a:rPr lang="ko-KR" altLang="en-US" smtClean="0"/>
              <a:t>4</a:t>
            </a:fld>
            <a:endParaRPr lang="ko-KR" altLang="en-US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16759F7-324E-2372-D386-3614514103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495488"/>
              </p:ext>
            </p:extLst>
          </p:nvPr>
        </p:nvGraphicFramePr>
        <p:xfrm>
          <a:off x="467544" y="1049845"/>
          <a:ext cx="8208912" cy="382182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1899">
                  <a:extLst>
                    <a:ext uri="{9D8B030D-6E8A-4147-A177-3AD203B41FA5}">
                      <a16:colId xmlns:a16="http://schemas.microsoft.com/office/drawing/2014/main" val="3059722718"/>
                    </a:ext>
                  </a:extLst>
                </a:gridCol>
                <a:gridCol w="6887013">
                  <a:extLst>
                    <a:ext uri="{9D8B030D-6E8A-4147-A177-3AD203B41FA5}">
                      <a16:colId xmlns:a16="http://schemas.microsoft.com/office/drawing/2014/main" val="3352225069"/>
                    </a:ext>
                  </a:extLst>
                </a:gridCol>
              </a:tblGrid>
              <a:tr h="250481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评分模块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评分细则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26806544"/>
                  </a:ext>
                </a:extLst>
              </a:tr>
              <a:tr h="47933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架构要求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BS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分层架构清晰，各层职责明确（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分）；前端适配主流浏览器，界面简洁、交互友好（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分）；后端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API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接口规范，可实现核心逻辑交互（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分）；数据库设计合理，数据表关联正确（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3974296802"/>
                  </a:ext>
                </a:extLst>
              </a:tr>
              <a:tr h="7575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基础考勤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前端（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分）：摄像头调用正常、人脸采集流畅（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分），支持手动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自动捕捉并显示采集状态（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分），能实时渲染后端返回的学生信息（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分），支持筛选查询考勤记录（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后端（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分）：活体检测功能正常，可抵御照片、视频欺骗（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分），班级人脸库可批量导入、单个添加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删除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修改（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分），可记录考勤数据并支持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Excel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格式导出（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512825318"/>
                  </a:ext>
                </a:extLst>
              </a:tr>
              <a:tr h="75759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合照识别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合照人脸检测识别（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分）：支持前端上传合照，后端可检测并批量识别人脸（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分），合照识别准确率≥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85%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，可处理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10-50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人多人合照，生成含学号、姓名的活动参与名单（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数据统计（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分）：可自动记录每位学生活动参与次数（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分），能生成统计数字、表格、柱状图等形式的统计报表（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004392474"/>
                  </a:ext>
                </a:extLst>
              </a:tr>
              <a:tr h="5836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情绪分析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情绪识别（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分）：考勤、合照识别过程中可同步提取面部特征（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分），可完成情绪分类（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数据统计（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分）：后端可记录学号、姓名、识别时间、情绪类型的完整数据（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分），前端支持查看统计结果（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221426811"/>
                  </a:ext>
                </a:extLst>
              </a:tr>
              <a:tr h="58360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核心功能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4</a:t>
                      </a:r>
                      <a:endParaRPr lang="zh-CN" sz="1100" dirty="0"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系统安全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抗攻击能力（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15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分）：活体检测抗照片（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7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分）、视频（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分）伪造攻击效果良好，杜绝虚假考勤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权限与异常防护（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分）：实现教师、学生账号权限区分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2631124148"/>
                  </a:ext>
                </a:extLst>
              </a:tr>
              <a:tr h="40961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实验报告</a:t>
                      </a:r>
                    </a:p>
                    <a:p>
                      <a:pPr algn="ctr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30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</a:t>
                      </a:r>
                    </a:p>
                  </a:txBody>
                  <a:tcPr marL="71971" marR="71971" marT="35985" marB="17993" anchor="ctr"/>
                </a:tc>
                <a:tc>
                  <a:txBody>
                    <a:bodyPr/>
                    <a:lstStyle/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课程设计报告（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20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分）：结构完整、格式规范，涵盖需求分析、系统设计、代码实现等全部要求</a:t>
                      </a:r>
                    </a:p>
                    <a:p>
                      <a:pPr algn="just" fontAlgn="t">
                        <a:buNone/>
                      </a:pP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源码提交（</a:t>
                      </a:r>
                      <a:r>
                        <a:rPr lang="en-US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10</a:t>
                      </a:r>
                      <a:r>
                        <a:rPr lang="zh-CN" sz="1100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分）：源码完整、注释规范可部署，部署说明清晰</a:t>
                      </a:r>
                    </a:p>
                  </a:txBody>
                  <a:tcPr marL="71971" marR="71971" marT="35985" marB="17993"/>
                </a:tc>
                <a:extLst>
                  <a:ext uri="{0D108BD9-81ED-4DB2-BD59-A6C34878D82A}">
                    <a16:rowId xmlns:a16="http://schemas.microsoft.com/office/drawing/2014/main" val="13034936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851a12fdce4dd3f9e72ffb430d6b981bd0d25b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Words>863</Words>
  <Application>Microsoft Office PowerPoint</Application>
  <PresentationFormat>全屏显示(16:9)</PresentationFormat>
  <Paragraphs>50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맑은 고딕</vt:lpstr>
      <vt:lpstr>微软雅黑</vt:lpstr>
      <vt:lpstr>造字工房悦圆（非商用）常规体</vt:lpstr>
      <vt:lpstr>Arial</vt:lpstr>
      <vt:lpstr>Tahoma</vt:lpstr>
      <vt:lpstr>第一PPT，www.1ppt.com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信息内容安全实验课第一周</dc:title>
  <dc:creator>程枫</dc:creator>
  <cp:lastModifiedBy>毅超 黄</cp:lastModifiedBy>
  <cp:revision>558</cp:revision>
  <dcterms:created xsi:type="dcterms:W3CDTF">2014-02-18T09:33:00Z</dcterms:created>
  <dcterms:modified xsi:type="dcterms:W3CDTF">2026-05-11T13:40:43Z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BFE8299AA6344B4A88D7D49418C147B4</vt:lpwstr>
  </property>
</Properties>
</file>